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  <p:embeddedFont>
      <p:font typeface="Urbanist ExtraBold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19846D-9FDA-4680-ABCF-E372138C559D}">
  <a:tblStyle styleId="{9119846D-9FDA-4680-ABCF-E372138C559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5.xml"/><Relationship Id="rId22" Type="http://schemas.openxmlformats.org/officeDocument/2006/relationships/font" Target="fonts/UrbanistExtraBold-bold.fntdata"/><Relationship Id="rId10" Type="http://schemas.openxmlformats.org/officeDocument/2006/relationships/slide" Target="slides/slide4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Urbanist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Urbanist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Urbanis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11" Type="http://schemas.openxmlformats.org/officeDocument/2006/relationships/image" Target="../media/image17.png"/><Relationship Id="rId10" Type="http://schemas.openxmlformats.org/officeDocument/2006/relationships/image" Target="../media/image8.png"/><Relationship Id="rId12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533525"/>
            <a:ext cx="11581447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Laperlao </a:t>
            </a:r>
            <a:r>
              <a:rPr b="1" i="0" lang="en-US" sz="54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Akıllı</a:t>
            </a: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Asistanı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2619375"/>
            <a:ext cx="110299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Yapay Zeka Destekli Geri Bildirim ve Karar Destek Sistemi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468885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4AF37"/>
                </a:solidFill>
                <a:latin typeface="Arial"/>
                <a:ea typeface="Arial"/>
                <a:cs typeface="Arial"/>
                <a:sym typeface="Arial"/>
              </a:rPr>
              <a:t>Doğal Dil İşleme (NLP) | Metin Sınıflandırma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2700" y="1943100"/>
            <a:ext cx="52482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2133600"/>
            <a:ext cx="521017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Fine-dining işletmelerinde her detay kritiktir. Dijital platformlardan gelen devasa yorum yığını manuel olarak işlenemez.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62150"/>
            <a:ext cx="52101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23925" y="312420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124200"/>
            <a:ext cx="4829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60.000+ yorumun manuel analizi imkansızdır.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23925" y="353377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3533775"/>
            <a:ext cx="4829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Kritik şikayetler gözden kaçabilmektedir.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23925" y="3943350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3943350"/>
            <a:ext cx="4829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Veri odaklı aksiyon alma hızı düşüktür.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23925" y="4352925"/>
            <a:ext cx="38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4352925"/>
            <a:ext cx="4829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Personel performansı ölçülebilir değildir.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Manuel Analiz </a:t>
            </a:r>
            <a:r>
              <a:rPr b="1" i="0" lang="en-US" sz="36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Çıkmazı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581025" y="2191642"/>
            <a:ext cx="11029950" cy="3312765"/>
          </a:xfrm>
          <a:prstGeom prst="roundRect">
            <a:avLst>
              <a:gd fmla="val 0" name="adj"/>
            </a:avLst>
          </a:prstGeom>
          <a:solidFill>
            <a:srgbClr val="12121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" name="Google Shape;111;p15"/>
          <p:cNvGraphicFramePr/>
          <p:nvPr/>
        </p:nvGraphicFramePr>
        <p:xfrm>
          <a:off x="581025" y="21916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{9119846D-9FDA-4680-ABCF-E372138C559D}</a:tableStyleId>
              </a:tblPr>
              <a:tblGrid>
                <a:gridCol w="3931150"/>
                <a:gridCol w="7098800"/>
              </a:tblGrid>
              <a:tr h="66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4AF3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Parametre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4AF37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Detay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6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Toplam Satır Sayısı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60.242 Yorum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Metrikler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Hız, Servis, Lezzet, Metin (Review)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Kaynak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Yemeksepeti Restoran Verileri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Diller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E0E0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Tamamen Türkçe (Gerçek Kullanıcı Dili)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" name="Google Shape;112;p15"/>
          <p:cNvSpPr/>
          <p:nvPr/>
        </p:nvSpPr>
        <p:spPr>
          <a:xfrm>
            <a:off x="581025" y="2861220"/>
            <a:ext cx="393114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512171" y="2861220"/>
            <a:ext cx="709880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81025" y="3518445"/>
            <a:ext cx="393114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4512171" y="3518445"/>
            <a:ext cx="709880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81025" y="4175670"/>
            <a:ext cx="393114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512171" y="4175670"/>
            <a:ext cx="709880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81025" y="4832895"/>
            <a:ext cx="393114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512171" y="4832895"/>
            <a:ext cx="709880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81025" y="5490120"/>
            <a:ext cx="393114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4512171" y="5490120"/>
            <a:ext cx="709880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Veri Seti </a:t>
            </a:r>
            <a:r>
              <a:rPr b="1" i="0" lang="en-US" sz="36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İstatistikleri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95537"/>
            <a:ext cx="35495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395537"/>
            <a:ext cx="3549699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395537"/>
            <a:ext cx="35495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6908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76300" y="3405187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Temizlik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76300" y="4014787"/>
            <a:ext cx="2959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Geçersiz karakterler ('-') ve eksik yorumlar (NaN) temizlendi.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6350" y="26908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4616350" y="3405187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Etiketleme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616350" y="4014787"/>
            <a:ext cx="29591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Hız, servis ve lezzet puanlarının ortalaması ile 'Duygu' sınıfları oluşturuldu.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550" y="269081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356550" y="3405187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Sınıflandırma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356550" y="4014787"/>
            <a:ext cx="2959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Puanlara göre: Olumlu (7+), Nötr (4-6), Olumsuz (&lt;4) etiketleri atandı.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284321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02088" y="2843212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08950" y="28432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Veri </a:t>
            </a:r>
            <a:r>
              <a:rPr b="1" i="0" lang="en-US" sz="36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Ön İşleme</a:t>
            </a: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Adımları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431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2525" y="3858220"/>
            <a:ext cx="6648450" cy="652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075" y="1962150"/>
            <a:ext cx="9239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4962525" y="2724745"/>
            <a:ext cx="698087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Metinden Matematiğe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962525" y="3134320"/>
            <a:ext cx="6648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Yapay zekanın yorumları anlayabilmesi için kelimeler TF-IDF yöntemiyle ağırlıklandırıldı.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962525" y="4605635"/>
            <a:ext cx="6648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* En sık geçen 5000 özellik (kelime) üzerinden modelleme yapıldı.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53025" y="4048720"/>
            <a:ext cx="6267450" cy="27116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TF-IDF ve </a:t>
            </a:r>
            <a:r>
              <a:rPr b="1" i="0" lang="en-US" sz="36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Vektörizasyon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33662"/>
            <a:ext cx="53721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633662"/>
            <a:ext cx="53721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1009650" y="3014662"/>
            <a:ext cx="47905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Logistic Regression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009650" y="3424237"/>
            <a:ext cx="45624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Ana Model: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Doğrusal sınıflandırıcı. Özellikle yüksek boyutlu ve seyrek (sparse) TF-IDF metin vektörlerinde en isabetli sonuçları üreterek projenin şampiyon modeli olmuştur.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667500" y="3014662"/>
            <a:ext cx="47905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Random Forest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667500" y="3424237"/>
            <a:ext cx="45624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Baseline Model:</a:t>
            </a: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Karşılaştırma amacıyla kullanılan ağaç tabanlı yapı. TF-IDF'in oluşturduğu seyrek matrislerde doğrusal modellere göre bir adım geride kalmıştır.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Seçilen </a:t>
            </a:r>
            <a:r>
              <a:rPr b="1" i="0" lang="en-US" sz="36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Modeller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19225"/>
            <a:ext cx="1102995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81025" y="4572000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Logistic Regression, metin verilerindeki doğrusal yapısıyla en yüksek ve kararlı başarım oranını sundu.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Model </a:t>
            </a:r>
            <a:r>
              <a:rPr b="1" i="0" lang="en-US" sz="36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Performans</a:t>
            </a: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Sonuçları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81025" y="581025"/>
            <a:ext cx="5190648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Hata </a:t>
            </a:r>
            <a:r>
              <a:rPr b="1" i="0" lang="en-US" sz="36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Analizi</a:t>
            </a:r>
            <a:endParaRPr/>
          </a:p>
        </p:txBody>
      </p:sp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16097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81025" y="1419225"/>
            <a:ext cx="51906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Confusion Matrix Yorumu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81025" y="1828800"/>
            <a:ext cx="49434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Modelin hangi sınıfları birbiriyle karıştırdığı Confusion Matrix üzerinden analiz edilmiştir.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81025" y="2743200"/>
            <a:ext cx="49434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Modelimiz, %86.03'lük genel doğruluk oranı ile "Olumlu" ve işletme için kritik olan "Olumsuz" yorumları yüksek isabetle yakalarken; duygu tonu belirsiz olan "Nötr" yorumları yakalamak doğası gereği daha zor olmuştur.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81025" y="2952750"/>
            <a:ext cx="522922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D4AF37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86%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81025" y="4381500"/>
            <a:ext cx="52292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Genel Doğruluk Oranı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762750" y="3448050"/>
            <a:ext cx="4848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11.459 test yorumunda yüksek isabet.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762750" y="3714750"/>
            <a:ext cx="4848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Olumsuz şikayetlerin hızlı tespiti.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62750" y="3981450"/>
            <a:ext cx="4848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Veri biliminin rehberliğinde doğru model seçimi.</a:t>
            </a:r>
            <a:endParaRPr/>
          </a:p>
        </p:txBody>
      </p:sp>
      <p:pic>
        <p:nvPicPr>
          <p:cNvPr descr="image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0" y="3481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0" y="37480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0" y="401478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Genel </a:t>
            </a:r>
            <a:r>
              <a:rPr b="1" i="0" lang="en-US" sz="36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Başarı</a:t>
            </a: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Özeti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305276" y="2009775"/>
            <a:ext cx="115814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Sorularınız?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81025" y="2476500"/>
            <a:ext cx="110299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Laperlao Akıllı Asistanı - Müşteri Memnuniyetinin Dijital Hafızası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581025" y="3177480"/>
            <a:ext cx="11029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4AF37"/>
                </a:solidFill>
                <a:latin typeface="Urbanist"/>
                <a:ea typeface="Urbanist"/>
                <a:cs typeface="Urbanist"/>
                <a:sym typeface="Urbanist"/>
              </a:rPr>
              <a:t>Teşekkür Ederim.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/>
          <p:nvPr/>
        </p:nvSpPr>
        <p:spPr>
          <a:xfrm>
            <a:off x="581025" y="2629941"/>
            <a:ext cx="1102995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81025" y="3532584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581025" y="352305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81025" y="352305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581025" y="429458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581025" y="4294584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0" name="Google Shape;22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383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676400" y="2772816"/>
            <a:ext cx="99345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https://media.istockphoto.com/id/2161343098/photo/modern-restaurant-interior-with-an-industrial-style-and-luxurious-furniture.jpg?s=612x612&amp;w=0&amp;k=20&amp;c=cFc9YDxm9uDEg1fMSSENNEhQumFnzciaeOvCUVEHgOA=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1676400" y="3166913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pic>
        <p:nvPicPr>
          <p:cNvPr descr="image.png" id="223" name="Google Shape;22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754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1676400" y="3696444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https://images.presentationgo.com/2025/04/ai-neural-network-brain.jpg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1676400" y="3917305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www.presentationgo.com</a:t>
            </a:r>
            <a:endParaRPr/>
          </a:p>
        </p:txBody>
      </p:sp>
      <p:pic>
        <p:nvPicPr>
          <p:cNvPr descr="image.png" id="226" name="Google Shape;22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46984"/>
            <a:ext cx="22288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676400" y="4467969"/>
            <a:ext cx="99345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https://www.restauranttimes.com/wp-content/uploads/2025/03/restaurant-reports-for-better-performance.webp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676400" y="4688830"/>
            <a:ext cx="99345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www.restauranttimes.com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